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Annoncer le plan calqué sur les 4 livrables attendus, puis la discussion.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Poser le décor métier avant la technique : à qui sert l'assistant et pourquoi.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Analogie : répondre avec la fiche sous les yeux plutôt que de mémoire.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Insister sur les deux temps (indexation hors-ligne vs interrogation temps réel), le maillon partagé qu'est l'index FAISS, et le chargement unique des modèles au démarrage (performance).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l'axe « gestion des données » de la discussion. Insister sur l'ingénierie réelle : contournement du 403 (fetch par agendas + re-filtrage ville), bug de pagination corrigé (curseur au lieu d'offset), gestion des manques et du biais thématique. ~1500 événements, médiane ~1000 caractères/événement.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gating est un argument fort : honnêteté du système et économie d'appels API. Détails si challengé (axe « choix de modèle ») : top-k = 4 passages récupérés, température 0.2 (réponses factuelles et reproductibles), seuil cosinus ≈ 0,9. Embeddings en local (≠ API Mistral) pour le coût, la reproductibilité et la confidentialité ; Mistral réservé à la génération.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 GitHub Actions : job qualité (ruff + 81 tests) à chaque push/PR ; job d'évaluation (pipeline complet fetch → preprocess → build_index → evaluate) déclenchable manuellement, artefacts publiés. Sources dédupliquées par identifiant d'événement avant la réponse.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Démo en direct : basculer vers Swagger /docs ; garder un scénario de refus.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Jeu annoté (20 questions, réponses fondées sur les événements réellement indexés), réévalué sur les données rafraîchies (filtrage temporel désactivé pour la reproductibilité). Métriques : similarité, couverture, classification (+ Ragas en option). Période n=2 (1 question = 50 %). Assumer le recul sur le hors-périmètre (artefact de métrique).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Parcourir le dépôt en direct sur GitHub : montrer rag/ (métier) vs api/ (HTTP), puis dérouler le pipeline scripts/ (fetch → preprocess → build_index) et les outils.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Reproductibilité (axe industrialisation) : uv.lock + .python-version figent les versions → installs déterministes. Secrets hors dépôt et hors image ; côté CI, stockés dans GitHub Secrets. Pipeline d'indexation rejouable de zéro (fetch → preprocess → build_index).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Assumer les limites ouvertement (axe « limites de la solution actuelle ») et montrer que chacune a une piste d'industrialisation concrète — c'est l'axe « reproductibilité / industrialisation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26480"/>
            <a:ext cx="12191695" cy="1371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59E0B"/>
                </a:solidFill>
                <a:latin typeface="Calibri"/>
              </a:rPr>
              <a:t>PROJET 7  •  FORMATION AI ENGINEER  •  SYSTÈME RAG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69848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Assistant intelligent de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recommandation d'événements culturels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0233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Un système RAG pour Puls-Events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6177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59E0B"/>
                </a:solidFill>
                <a:latin typeface="Calibri"/>
              </a:rPr>
              <a:t>LangChain • FAISS • Mistral • FastAPI • Docker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39496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Lamine CAMARA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Soutenance —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59E0B"/>
                </a:solidFill>
                <a:latin typeface="Calibri"/>
              </a:rPr>
              <a:t>DÉROULÉ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0F2F52"/>
                </a:solidFill>
                <a:latin typeface="Calibri"/>
              </a:rPr>
              <a:t>Déroulé de la présentation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097280" cy="365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65960"/>
            <a:ext cx="1088136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700" b="1">
                <a:solidFill>
                  <a:srgbClr val="F59E0B"/>
                </a:solidFill>
                <a:latin typeface="Calibri"/>
              </a:rPr>
              <a:t>▸  </a:t>
            </a:r>
            <a:r>
              <a:rPr sz="1700" b="0">
                <a:solidFill>
                  <a:srgbClr val="374151"/>
                </a:solidFill>
                <a:latin typeface="Calibri"/>
              </a:rPr>
              <a:t>1 · Le système RAG développé — contexte, architecture, données, modèle.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700" b="1">
                <a:solidFill>
                  <a:srgbClr val="F59E0B"/>
                </a:solidFill>
                <a:latin typeface="Calibri"/>
              </a:rPr>
              <a:t>▸  </a:t>
            </a:r>
            <a:r>
              <a:rPr sz="1700" b="0">
                <a:solidFill>
                  <a:srgbClr val="374151"/>
                </a:solidFill>
                <a:latin typeface="Calibri"/>
              </a:rPr>
              <a:t>2 · Démonstration de l'API en direct (interrogation → réponse).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700" b="1">
                <a:solidFill>
                  <a:srgbClr val="F59E0B"/>
                </a:solidFill>
                <a:latin typeface="Calibri"/>
              </a:rPr>
              <a:t>▸  </a:t>
            </a:r>
            <a:r>
              <a:rPr sz="1700" b="0">
                <a:solidFill>
                  <a:srgbClr val="374151"/>
                </a:solidFill>
                <a:latin typeface="Calibri"/>
              </a:rPr>
              <a:t>3 · Rapport technique &amp; résultats d'évaluation.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700" b="1">
                <a:solidFill>
                  <a:srgbClr val="F59E0B"/>
                </a:solidFill>
                <a:latin typeface="Calibri"/>
              </a:rPr>
              <a:t>▸  </a:t>
            </a:r>
            <a:r>
              <a:rPr sz="1700" b="0">
                <a:solidFill>
                  <a:srgbClr val="374151"/>
                </a:solidFill>
                <a:latin typeface="Calibri"/>
              </a:rPr>
              <a:t>4 · Structure du dépôt GitHub &amp; principaux scripts.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700" b="1">
                <a:solidFill>
                  <a:srgbClr val="F59E0B"/>
                </a:solidFill>
                <a:latin typeface="Calibri"/>
              </a:rPr>
              <a:t>–  </a:t>
            </a:r>
            <a:r>
              <a:rPr sz="1700" b="0">
                <a:solidFill>
                  <a:srgbClr val="374151"/>
                </a:solidFill>
                <a:latin typeface="Calibri"/>
              </a:rPr>
              <a:t>Puis discussion : choix modèle/archi · données &amp; embeddings · évaluation ·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700" b="1">
                <a:solidFill>
                  <a:srgbClr val="F59E0B"/>
                </a:solidFill>
                <a:latin typeface="Calibri"/>
              </a:rPr>
              <a:t>–  </a:t>
            </a:r>
            <a:r>
              <a:rPr sz="1700" b="0">
                <a:solidFill>
                  <a:srgbClr val="374151"/>
                </a:solidFill>
                <a:latin typeface="Calibri"/>
              </a:rPr>
              <a:t>limites · reproductibilité, industrialisation &amp; usage métier.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56248"/>
            <a:ext cx="9601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Projet 7 — Assistant RAG d'événements culturels  •  Lamine CAMARA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556248"/>
            <a:ext cx="914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59E0B"/>
                </a:solidFill>
                <a:latin typeface="Calibri"/>
              </a:rPr>
              <a:t>01  •  CONTEXTE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0F2F52"/>
                </a:solidFill>
                <a:latin typeface="Calibri"/>
              </a:rPr>
              <a:t>Contexte &amp; problème métier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097280" cy="365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65960"/>
            <a:ext cx="1088136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700" b="1">
                <a:solidFill>
                  <a:srgbClr val="F59E0B"/>
                </a:solidFill>
                <a:latin typeface="Calibri"/>
              </a:rPr>
              <a:t>▸  </a:t>
            </a:r>
            <a:r>
              <a:rPr sz="1700" b="0">
                <a:solidFill>
                  <a:srgbClr val="374151"/>
                </a:solidFill>
                <a:latin typeface="Calibri"/>
              </a:rPr>
              <a:t>Puls-Events : plateforme de recommandation d'événements culturels.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700" b="1">
                <a:solidFill>
                  <a:srgbClr val="F59E0B"/>
                </a:solidFill>
                <a:latin typeface="Calibri"/>
              </a:rPr>
              <a:t>▸  </a:t>
            </a:r>
            <a:r>
              <a:rPr sz="1700" b="0">
                <a:solidFill>
                  <a:srgbClr val="374151"/>
                </a:solidFill>
                <a:latin typeface="Calibri"/>
              </a:rPr>
              <a:t>Besoin : un assistant qui répond en langage naturel sur les événements à venir.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700" b="1">
                <a:solidFill>
                  <a:srgbClr val="F59E0B"/>
                </a:solidFill>
                <a:latin typeface="Calibri"/>
              </a:rPr>
              <a:t>▸  </a:t>
            </a:r>
            <a:r>
              <a:rPr sz="1700" b="0">
                <a:solidFill>
                  <a:srgbClr val="374151"/>
                </a:solidFill>
                <a:latin typeface="Calibri"/>
              </a:rPr>
              <a:t>Ex. « Quels concerts de jazz à Paris ? », « Une expo près de la Cité des sciences ? ».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700" b="1">
                <a:solidFill>
                  <a:srgbClr val="F59E0B"/>
                </a:solidFill>
                <a:latin typeface="Calibri"/>
              </a:rPr>
              <a:t>▸  </a:t>
            </a:r>
            <a:r>
              <a:rPr sz="1700" b="0">
                <a:solidFill>
                  <a:srgbClr val="374151"/>
                </a:solidFill>
                <a:latin typeface="Calibri"/>
              </a:rPr>
              <a:t>Difficulté : une offre qui change sans cesse et des faits (dates, lieux) à ne pas se tromper.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56248"/>
            <a:ext cx="9601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Projet 7 — Assistant RAG d'événements culturels  •  Lamine CAMARA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556248"/>
            <a:ext cx="914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59E0B"/>
                </a:solidFill>
                <a:latin typeface="Calibri"/>
              </a:rPr>
              <a:t>02  •  PRINCIPE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0F2F52"/>
                </a:solidFill>
                <a:latin typeface="Calibri"/>
              </a:rPr>
              <a:t>Qu'est-ce qu'un système RAG  ? (sans jargon)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097280" cy="365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65960"/>
            <a:ext cx="1088136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700" b="1">
                <a:solidFill>
                  <a:srgbClr val="F59E0B"/>
                </a:solidFill>
                <a:latin typeface="Calibri"/>
              </a:rPr>
              <a:t>▸  </a:t>
            </a:r>
            <a:r>
              <a:rPr sz="1700" b="0">
                <a:solidFill>
                  <a:srgbClr val="374151"/>
                </a:solidFill>
                <a:latin typeface="Calibri"/>
              </a:rPr>
              <a:t>Un LLM seul répond « de mémoire » : risque d'événements faux ou périmés.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700" b="1">
                <a:solidFill>
                  <a:srgbClr val="F59E0B"/>
                </a:solidFill>
                <a:latin typeface="Calibri"/>
              </a:rPr>
              <a:t>▸  </a:t>
            </a:r>
            <a:r>
              <a:rPr sz="1700" b="0">
                <a:solidFill>
                  <a:srgbClr val="374151"/>
                </a:solidFill>
                <a:latin typeface="Calibri"/>
              </a:rPr>
              <a:t>RAG = Retrieval-Augmented Generation.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700" b="1">
                <a:solidFill>
                  <a:srgbClr val="F59E0B"/>
                </a:solidFill>
                <a:latin typeface="Calibri"/>
              </a:rPr>
              <a:t>–  </a:t>
            </a:r>
            <a:r>
              <a:rPr sz="1700" b="0">
                <a:solidFill>
                  <a:srgbClr val="374151"/>
                </a:solidFill>
                <a:latin typeface="Calibri"/>
              </a:rPr>
              <a:t>1) on RÉCUPÈRE d'abord des événements réels dans une base à jour ;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700" b="1">
                <a:solidFill>
                  <a:srgbClr val="F59E0B"/>
                </a:solidFill>
                <a:latin typeface="Calibri"/>
              </a:rPr>
              <a:t>–  </a:t>
            </a:r>
            <a:r>
              <a:rPr sz="1700" b="0">
                <a:solidFill>
                  <a:srgbClr val="374151"/>
                </a:solidFill>
                <a:latin typeface="Calibri"/>
              </a:rPr>
              <a:t>2) le LLM RÉDIGE la réponse UNIQUEMENT à partir de ces événements.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700" b="1">
                <a:solidFill>
                  <a:srgbClr val="F59E0B"/>
                </a:solidFill>
                <a:latin typeface="Calibri"/>
              </a:rPr>
              <a:t>▸  </a:t>
            </a:r>
            <a:r>
              <a:rPr sz="1700" b="0">
                <a:solidFill>
                  <a:srgbClr val="374151"/>
                </a:solidFill>
                <a:latin typeface="Calibri"/>
              </a:rPr>
              <a:t>Bénéfice : la fluidité d'un LLM + l'exactitude d'une base de données.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56248"/>
            <a:ext cx="9601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Projet 7 — Assistant RAG d'événements culturels  •  Lamine CAMARA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556248"/>
            <a:ext cx="914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59E0B"/>
                </a:solidFill>
                <a:latin typeface="Calibri"/>
              </a:rPr>
              <a:t>03  •  OBJECTIFS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0F2F52"/>
                </a:solidFill>
                <a:latin typeface="Calibri"/>
              </a:rPr>
              <a:t>Objectifs du POC &amp; périmètre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097280" cy="365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874519"/>
            <a:ext cx="3410712" cy="22860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874519"/>
            <a:ext cx="3410712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075688"/>
            <a:ext cx="286207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F59E0B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532887"/>
            <a:ext cx="2907791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0F2F52"/>
                </a:solidFill>
                <a:latin typeface="Calibri"/>
              </a:rPr>
              <a:t>Faisabilité technique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172968"/>
            <a:ext cx="2907791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374151"/>
                </a:solidFill>
                <a:latin typeface="Calibri"/>
              </a:rPr>
              <a:t>De l'API Open Agenda à une réponse sourcée, une chaîne RAG complète de bout en bout.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16552" y="1874519"/>
            <a:ext cx="3410712" cy="22860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16552" y="1874519"/>
            <a:ext cx="3410712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90872" y="2075688"/>
            <a:ext cx="286207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F59E0B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90872" y="2532887"/>
            <a:ext cx="2907791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0F2F52"/>
                </a:solidFill>
                <a:latin typeface="Calibri"/>
              </a:rPr>
              <a:t>Valeur métier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90872" y="3172968"/>
            <a:ext cx="2907791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374151"/>
                </a:solidFill>
                <a:latin typeface="Calibri"/>
              </a:rPr>
              <a:t>Des réponses pertinentes, honnêtes et directement exploitables par les équipes.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47304" y="1874519"/>
            <a:ext cx="3410712" cy="22860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47304" y="1874519"/>
            <a:ext cx="3410712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21624" y="2075688"/>
            <a:ext cx="286207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F59E0B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21624" y="2532887"/>
            <a:ext cx="2907791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0F2F52"/>
                </a:solidFill>
                <a:latin typeface="Calibri"/>
              </a:rPr>
              <a:t>Performance &amp; reproductibilité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21624" y="3172968"/>
            <a:ext cx="2907791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374151"/>
                </a:solidFill>
                <a:latin typeface="Calibri"/>
              </a:rPr>
              <a:t>Chargement unique des modèles, conteneurisation, environnement figé et rejouable.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315968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2F52"/>
                </a:solidFill>
                <a:latin typeface="Calibri"/>
              </a:rPr>
              <a:t>Périmètre du POC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754880"/>
            <a:ext cx="2514600" cy="1481328"/>
          </a:xfrm>
          <a:prstGeom prst="roundRect">
            <a:avLst/>
          </a:prstGeom>
          <a:solidFill>
            <a:srgbClr val="0F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754880"/>
            <a:ext cx="2514600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956048"/>
            <a:ext cx="25146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3400" b="1">
                <a:solidFill>
                  <a:srgbClr val="F59E0B"/>
                </a:solidFill>
                <a:latin typeface="Calibri"/>
              </a:rPr>
              <a:t>Paris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669280"/>
            <a:ext cx="2331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zone ciblée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93592" y="4754880"/>
            <a:ext cx="2514600" cy="1481328"/>
          </a:xfrm>
          <a:prstGeom prst="roundRect">
            <a:avLst/>
          </a:prstGeom>
          <a:solidFill>
            <a:srgbClr val="0F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593592" y="4754880"/>
            <a:ext cx="2514600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93592" y="4956048"/>
            <a:ext cx="25146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3400" b="1">
                <a:solidFill>
                  <a:srgbClr val="F59E0B"/>
                </a:solidFill>
                <a:latin typeface="Calibri"/>
              </a:rPr>
              <a:t>&lt; 1 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85032" y="5669280"/>
            <a:ext cx="2331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fenêtre temporelle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9944" y="4754880"/>
            <a:ext cx="2514600" cy="1481328"/>
          </a:xfrm>
          <a:prstGeom prst="roundRect">
            <a:avLst/>
          </a:prstGeom>
          <a:solidFill>
            <a:srgbClr val="0F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9944" y="4754880"/>
            <a:ext cx="2514600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9944" y="4956048"/>
            <a:ext cx="25146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3400" b="1">
                <a:solidFill>
                  <a:srgbClr val="F59E0B"/>
                </a:solidFill>
                <a:latin typeface="Calibri"/>
              </a:rPr>
              <a:t>~1500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01383" y="5669280"/>
            <a:ext cx="2331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événements indexés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226296" y="4754880"/>
            <a:ext cx="2514600" cy="1481328"/>
          </a:xfrm>
          <a:prstGeom prst="roundRect">
            <a:avLst/>
          </a:prstGeom>
          <a:solidFill>
            <a:srgbClr val="0F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226296" y="4754880"/>
            <a:ext cx="2514600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26296" y="4956048"/>
            <a:ext cx="25146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3400" b="1">
                <a:solidFill>
                  <a:srgbClr val="F59E0B"/>
                </a:solidFill>
                <a:latin typeface="Calibri"/>
              </a:rPr>
              <a:t>4076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17736" y="5669280"/>
            <a:ext cx="2331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chunks vectorisés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5760" y="6556248"/>
            <a:ext cx="9601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Projet 7 — Assistant RAG d'événements culturels  •  Lamine CAMARA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64240" y="6556248"/>
            <a:ext cx="914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59E0B"/>
                </a:solidFill>
                <a:latin typeface="Calibri"/>
              </a:rPr>
              <a:t>04  • 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0F2F52"/>
                </a:solidFill>
                <a:latin typeface="Calibri"/>
              </a:rPr>
              <a:t>Architecture du système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097280" cy="365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874519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59E0B"/>
                </a:solidFill>
                <a:latin typeface="Calibri"/>
              </a:rPr>
              <a:t>INDEXATION   ·   hors-ligne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86000"/>
            <a:ext cx="2377440" cy="1097280"/>
          </a:xfrm>
          <a:prstGeom prst="roundRect">
            <a:avLst/>
          </a:prstGeom>
          <a:solidFill>
            <a:srgbClr val="0F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468880"/>
            <a:ext cx="237744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Open Agenda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944368"/>
            <a:ext cx="223113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F3F4F6"/>
                </a:solidFill>
                <a:latin typeface="Calibri"/>
              </a:rPr>
              <a:t>API publique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118104" y="2715768"/>
            <a:ext cx="347472" cy="237744"/>
          </a:xfrm>
          <a:prstGeom prst="rightArrow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520440" y="2286000"/>
            <a:ext cx="2377440" cy="1097280"/>
          </a:xfrm>
          <a:prstGeom prst="roundRect">
            <a:avLst/>
          </a:prstGeom>
          <a:solidFill>
            <a:srgbClr val="0F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2468880"/>
            <a:ext cx="237744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Pré-traitement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2944368"/>
            <a:ext cx="223113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F3F4F6"/>
                </a:solidFill>
                <a:latin typeface="Calibri"/>
              </a:rPr>
              <a:t>pandas → Parquet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952744" y="2715768"/>
            <a:ext cx="347472" cy="237744"/>
          </a:xfrm>
          <a:prstGeom prst="rightArrow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55080" y="2286000"/>
            <a:ext cx="2377440" cy="1097280"/>
          </a:xfrm>
          <a:prstGeom prst="roundRect">
            <a:avLst/>
          </a:prstGeom>
          <a:solidFill>
            <a:srgbClr val="0F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2468880"/>
            <a:ext cx="237744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Chunks + Embeddings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2" y="2944368"/>
            <a:ext cx="223113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F3F4F6"/>
                </a:solidFill>
                <a:latin typeface="Calibri"/>
              </a:rPr>
              <a:t>MiniLM 384d · CPU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787384" y="2715768"/>
            <a:ext cx="347472" cy="237744"/>
          </a:xfrm>
          <a:prstGeom prst="rightArrow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89720" y="2286000"/>
            <a:ext cx="2377440" cy="109728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89720" y="2468880"/>
            <a:ext cx="237744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F2F52"/>
                </a:solidFill>
                <a:latin typeface="Calibri"/>
              </a:rPr>
              <a:t>Index FAISS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62872" y="2944368"/>
            <a:ext cx="223113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1F2937"/>
                </a:solidFill>
                <a:latin typeface="Calibri"/>
              </a:rPr>
              <a:t>IndexFlatL2 · cosinus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61188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F59E0B"/>
                </a:solidFill>
                <a:latin typeface="Calibri"/>
              </a:rPr>
              <a:t>▸  </a:t>
            </a:r>
            <a:r>
              <a:rPr sz="1250" b="0">
                <a:solidFill>
                  <a:srgbClr val="374151"/>
                </a:solidFill>
                <a:latin typeface="Calibri"/>
              </a:rPr>
              <a:t>L'index FAISS et le modèle d'embeddings sont chargés une seule fois au démarrage de l'API.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160520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59E0B"/>
                </a:solidFill>
                <a:latin typeface="Calibri"/>
              </a:rPr>
              <a:t>INTERROGATION   ·   temps réel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572000"/>
            <a:ext cx="2377440" cy="1097280"/>
          </a:xfrm>
          <a:prstGeom prst="roundRect">
            <a:avLst/>
          </a:prstGeom>
          <a:solidFill>
            <a:srgbClr val="0F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754880"/>
            <a:ext cx="237744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Question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5230368"/>
            <a:ext cx="223113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F3F4F6"/>
                </a:solidFill>
                <a:latin typeface="Calibri"/>
              </a:rPr>
              <a:t>langage naturel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3118104" y="5001768"/>
            <a:ext cx="347472" cy="237744"/>
          </a:xfrm>
          <a:prstGeom prst="rightArrow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520440" y="4572000"/>
            <a:ext cx="2377440" cy="109728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20440" y="4754880"/>
            <a:ext cx="237744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F2F52"/>
                </a:solidFill>
                <a:latin typeface="Calibri"/>
              </a:rPr>
              <a:t>Recherche FAISS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93592" y="5230368"/>
            <a:ext cx="223113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1F2937"/>
                </a:solidFill>
                <a:latin typeface="Calibri"/>
              </a:rPr>
              <a:t>top-k + seuil (gating)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5952744" y="5001768"/>
            <a:ext cx="347472" cy="237744"/>
          </a:xfrm>
          <a:prstGeom prst="rightArrow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355080" y="4572000"/>
            <a:ext cx="2377440" cy="1097280"/>
          </a:xfrm>
          <a:prstGeom prst="roundRect">
            <a:avLst/>
          </a:prstGeom>
          <a:solidFill>
            <a:srgbClr val="0F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55080" y="4754880"/>
            <a:ext cx="237744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Génération Mistral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28232" y="5230368"/>
            <a:ext cx="223113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F3F4F6"/>
                </a:solidFill>
                <a:latin typeface="Calibri"/>
              </a:rPr>
              <a:t>contexte → réponse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8787384" y="5001768"/>
            <a:ext cx="347472" cy="237744"/>
          </a:xfrm>
          <a:prstGeom prst="rightArrow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189720" y="4572000"/>
            <a:ext cx="2377440" cy="1097280"/>
          </a:xfrm>
          <a:prstGeom prst="roundRect">
            <a:avLst/>
          </a:prstGeom>
          <a:solidFill>
            <a:srgbClr val="0F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89720" y="4754880"/>
            <a:ext cx="237744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Réponse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62872" y="5230368"/>
            <a:ext cx="223113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F3F4F6"/>
                </a:solidFill>
                <a:latin typeface="Calibri"/>
              </a:rPr>
              <a:t>+ sources citées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589788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F59E0B"/>
                </a:solidFill>
                <a:latin typeface="Calibri"/>
              </a:rPr>
              <a:t>▸  </a:t>
            </a:r>
            <a:r>
              <a:rPr sz="1250" b="0">
                <a:solidFill>
                  <a:srgbClr val="374151"/>
                </a:solidFill>
                <a:latin typeface="Calibri"/>
              </a:rPr>
              <a:t>Séparation nette : logique métier (rag/) vs exposition HTTP (api/).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6556248"/>
            <a:ext cx="9601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Projet 7 — Assistant RAG d'événements culturels  •  Lamine CAMARA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064240" y="6556248"/>
            <a:ext cx="914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59E0B"/>
                </a:solidFill>
                <a:latin typeface="Calibri"/>
              </a:rPr>
              <a:t>05  •  DONNÉES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0F2F52"/>
                </a:solidFill>
                <a:latin typeface="Calibri"/>
              </a:rPr>
              <a:t>Des données brutes au jeu structuré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097280" cy="365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65960"/>
            <a:ext cx="1088136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700" b="1">
                <a:solidFill>
                  <a:srgbClr val="F59E0B"/>
                </a:solidFill>
                <a:latin typeface="Calibri"/>
              </a:rPr>
              <a:t>▸  </a:t>
            </a:r>
            <a:r>
              <a:rPr sz="1700" b="0">
                <a:solidFill>
                  <a:srgbClr val="374151"/>
                </a:solidFill>
                <a:latin typeface="Calibri"/>
              </a:rPr>
              <a:t>Contrainte API : endpoint global /events fermé (403) → repli par agendas « Paris », puis re-filtrage sur la ville réelle des événements.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700" b="1">
                <a:solidFill>
                  <a:srgbClr val="F59E0B"/>
                </a:solidFill>
                <a:latin typeface="Calibri"/>
              </a:rPr>
              <a:t>▸  </a:t>
            </a:r>
            <a:r>
              <a:rPr sz="1700" b="0">
                <a:solidFill>
                  <a:srgbClr val="374151"/>
                </a:solidFill>
                <a:latin typeface="Calibri"/>
              </a:rPr>
              <a:t>Robustesse : pagination par curseur (bug d'offset contourné), retries + back-off, déduplication par identifiant.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700" b="1">
                <a:solidFill>
                  <a:srgbClr val="F59E0B"/>
                </a:solidFill>
                <a:latin typeface="Calibri"/>
              </a:rPr>
              <a:t>▸  </a:t>
            </a:r>
            <a:r>
              <a:rPr sz="1700" b="0">
                <a:solidFill>
                  <a:srgbClr val="374151"/>
                </a:solidFill>
                <a:latin typeface="Calibri"/>
              </a:rPr>
              <a:t>Nettoyage : champs multilingues (fr prioritaire), HTML décodé, dates normalisées, événements sans contenu écartés.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700" b="1">
                <a:solidFill>
                  <a:srgbClr val="F59E0B"/>
                </a:solidFill>
                <a:latin typeface="Calibri"/>
              </a:rPr>
              <a:t>▸  </a:t>
            </a:r>
            <a:r>
              <a:rPr sz="1700" b="0">
                <a:solidFill>
                  <a:srgbClr val="374151"/>
                </a:solidFill>
                <a:latin typeface="Calibri"/>
              </a:rPr>
              <a:t>Diversité : plafond par agenda pour limiter un biais thématique (~1/3 d'événements religieux).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700" b="1">
                <a:solidFill>
                  <a:srgbClr val="F59E0B"/>
                </a:solidFill>
                <a:latin typeface="Calibri"/>
              </a:rPr>
              <a:t>▸  </a:t>
            </a:r>
            <a:r>
              <a:rPr sz="1700" b="0">
                <a:solidFill>
                  <a:srgbClr val="374151"/>
                </a:solidFill>
                <a:latin typeface="Calibri"/>
              </a:rPr>
              <a:t>Sortie : 1500 événements (16 agendas), jeu typé au format Parquet — choisi pour son I/O rapide et typé.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56248"/>
            <a:ext cx="9601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Projet 7 — Assistant RAG d'événements culturels  •  Lamine CAMARA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556248"/>
            <a:ext cx="914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59E0B"/>
                </a:solidFill>
                <a:latin typeface="Calibri"/>
              </a:rPr>
              <a:t>06  •  VECTORISATION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0F2F52"/>
                </a:solidFill>
                <a:latin typeface="Calibri"/>
              </a:rPr>
              <a:t>Recherche par le sens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097280" cy="365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65960"/>
            <a:ext cx="1088136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700" b="1">
                <a:solidFill>
                  <a:srgbClr val="F59E0B"/>
                </a:solidFill>
                <a:latin typeface="Calibri"/>
              </a:rPr>
              <a:t>▸  </a:t>
            </a:r>
            <a:r>
              <a:rPr sz="1700" b="0">
                <a:solidFill>
                  <a:srgbClr val="374151"/>
                </a:solidFill>
                <a:latin typeface="Calibri"/>
              </a:rPr>
              <a:t>Chunking : RecursiveCharacterTextSplitter (800 caractères, chevauchement 100).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700" b="1">
                <a:solidFill>
                  <a:srgbClr val="F59E0B"/>
                </a:solidFill>
                <a:latin typeface="Calibri"/>
              </a:rPr>
              <a:t>▸  </a:t>
            </a:r>
            <a:r>
              <a:rPr sz="1700" b="0">
                <a:solidFill>
                  <a:srgbClr val="374151"/>
                </a:solidFill>
                <a:latin typeface="Calibri"/>
              </a:rPr>
              <a:t>Embeddings : sentence-transformers multilingue (MiniLM-L12-v2, 384 dim), en LOCAL sur CPU.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700" b="1">
                <a:solidFill>
                  <a:srgbClr val="F59E0B"/>
                </a:solidFill>
                <a:latin typeface="Calibri"/>
              </a:rPr>
              <a:t>▸  </a:t>
            </a:r>
            <a:r>
              <a:rPr sz="1700" b="0">
                <a:solidFill>
                  <a:srgbClr val="374151"/>
                </a:solidFill>
                <a:latin typeface="Calibri"/>
              </a:rPr>
              <a:t>Vecteurs normalisés → distance L2 ≈ similarité cosinus.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700" b="1">
                <a:solidFill>
                  <a:srgbClr val="F59E0B"/>
                </a:solidFill>
                <a:latin typeface="Calibri"/>
              </a:rPr>
              <a:t>▸  </a:t>
            </a:r>
            <a:r>
              <a:rPr sz="1700" b="0">
                <a:solidFill>
                  <a:srgbClr val="374151"/>
                </a:solidFill>
                <a:latin typeface="Calibri"/>
              </a:rPr>
              <a:t>Index FAISS IndexFlatL2 : recherche exacte, rappel 100 %, instantanée à cette échelle.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700" b="1">
                <a:solidFill>
                  <a:srgbClr val="F59E0B"/>
                </a:solidFill>
                <a:latin typeface="Calibri"/>
              </a:rPr>
              <a:t>▸  </a:t>
            </a:r>
            <a:r>
              <a:rPr sz="1700" b="0">
                <a:solidFill>
                  <a:srgbClr val="374151"/>
                </a:solidFill>
                <a:latin typeface="Calibri"/>
              </a:rPr>
              <a:t>Métadonnées stockées avec chaque vecteur (titre, date, lieu, url) → restitution des sources.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56248"/>
            <a:ext cx="9601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Projet 7 — Assistant RAG d'événements culturels  •  Lamine CAMARA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556248"/>
            <a:ext cx="914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59E0B"/>
                </a:solidFill>
                <a:latin typeface="Calibri"/>
              </a:rPr>
              <a:t>07  •  GÉNÉRATION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0F2F52"/>
                </a:solidFill>
                <a:latin typeface="Calibri"/>
              </a:rPr>
              <a:t>Mistral + garde-fous anti-hallucination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097280" cy="365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65960"/>
            <a:ext cx="1088136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700" b="1">
                <a:solidFill>
                  <a:srgbClr val="F59E0B"/>
                </a:solidFill>
                <a:latin typeface="Calibri"/>
              </a:rPr>
              <a:t>▸  </a:t>
            </a:r>
            <a:r>
              <a:rPr sz="1700" b="0">
                <a:solidFill>
                  <a:srgbClr val="374151"/>
                </a:solidFill>
                <a:latin typeface="Calibri"/>
              </a:rPr>
              <a:t>LLM : Mistral (mistral-small-latest) — qualité en français, coût maîtrisé, intégré à LangChain.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700" b="1">
                <a:solidFill>
                  <a:srgbClr val="F59E0B"/>
                </a:solidFill>
                <a:latin typeface="Calibri"/>
              </a:rPr>
              <a:t>▸  </a:t>
            </a:r>
            <a:r>
              <a:rPr sz="1700" b="0">
                <a:solidFill>
                  <a:srgbClr val="374151"/>
                </a:solidFill>
                <a:latin typeface="Calibri"/>
              </a:rPr>
              <a:t>Prompt système : répondre EXCLUSIVEMENT à partir du contexte, ne rien inventer, citer date/lieu.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700" b="1">
                <a:solidFill>
                  <a:srgbClr val="F59E0B"/>
                </a:solidFill>
                <a:latin typeface="Calibri"/>
              </a:rPr>
              <a:t>▸  </a:t>
            </a:r>
            <a:r>
              <a:rPr sz="1700" b="0">
                <a:solidFill>
                  <a:srgbClr val="374151"/>
                </a:solidFill>
                <a:latin typeface="Calibri"/>
              </a:rPr>
              <a:t>Gating : si aucun événement pertinent (seuil cosinus) → refus honnête SANS appeler le LLM.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700" b="1">
                <a:solidFill>
                  <a:srgbClr val="F59E0B"/>
                </a:solidFill>
                <a:latin typeface="Calibri"/>
              </a:rPr>
              <a:t>▸  </a:t>
            </a:r>
            <a:r>
              <a:rPr sz="1700" b="0">
                <a:solidFill>
                  <a:srgbClr val="374151"/>
                </a:solidFill>
                <a:latin typeface="Calibri"/>
              </a:rPr>
              <a:t>Résultat : pas d'invention, et une réponse déterministe + économique hors-périmètre.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56248"/>
            <a:ext cx="9601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Projet 7 — Assistant RAG d'événements culturels  •  Lamine CAMARA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556248"/>
            <a:ext cx="914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59E0B"/>
                </a:solidFill>
                <a:latin typeface="Calibri"/>
              </a:rPr>
              <a:t>08  • 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0F2F52"/>
                </a:solidFill>
                <a:latin typeface="Calibri"/>
              </a:rPr>
              <a:t>API REST &amp; robustesse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097280" cy="365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5760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2F52"/>
                </a:solidFill>
                <a:latin typeface="Calibri"/>
              </a:rPr>
              <a:t>Endpoints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395728"/>
            <a:ext cx="841248" cy="402336"/>
          </a:xfrm>
          <a:prstGeom prst="roundRect">
            <a:avLst/>
          </a:prstGeom>
          <a:solidFill>
            <a:srgbClr val="0F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395728"/>
            <a:ext cx="84124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55648" y="2395728"/>
            <a:ext cx="178308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F2F52"/>
                </a:solidFill>
                <a:latin typeface="Consolas"/>
              </a:rPr>
              <a:t>/health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2395728"/>
            <a:ext cx="301752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374151"/>
                </a:solidFill>
                <a:latin typeface="Calibri"/>
              </a:rPr>
              <a:t>état du service + nb d'événements indexés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054096"/>
            <a:ext cx="841248" cy="402336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054096"/>
            <a:ext cx="84124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POST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55648" y="3054096"/>
            <a:ext cx="178308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F2F52"/>
                </a:solidFill>
                <a:latin typeface="Consolas"/>
              </a:rPr>
              <a:t>/ask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3054096"/>
            <a:ext cx="301752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374151"/>
                </a:solidFill>
                <a:latin typeface="Calibri"/>
              </a:rPr>
              <a:t>question → réponse + sources citées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712463"/>
            <a:ext cx="841248" cy="402336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712463"/>
            <a:ext cx="84124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POST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55648" y="3712463"/>
            <a:ext cx="178308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F2F52"/>
                </a:solidFill>
                <a:latin typeface="Consolas"/>
              </a:rPr>
              <a:t>/rebuild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3712463"/>
            <a:ext cx="301752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374151"/>
                </a:solidFill>
                <a:latin typeface="Calibri"/>
              </a:rPr>
              <a:t>reconstruit l'index (jeton X-API-Token)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370831"/>
            <a:ext cx="841248" cy="402336"/>
          </a:xfrm>
          <a:prstGeom prst="roundRect">
            <a:avLst/>
          </a:prstGeom>
          <a:solidFill>
            <a:srgbClr val="0F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370831"/>
            <a:ext cx="84124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GET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55648" y="4370831"/>
            <a:ext cx="178308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F2F52"/>
                </a:solidFill>
                <a:latin typeface="Consolas"/>
              </a:rPr>
              <a:t>/docs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11880" y="4370831"/>
            <a:ext cx="301752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374151"/>
                </a:solidFill>
                <a:latin typeface="Calibri"/>
              </a:rPr>
              <a:t>documentation Swagger auto-générée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074919"/>
            <a:ext cx="5852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>
                <a:solidFill>
                  <a:srgbClr val="F59E0B"/>
                </a:solidFill>
                <a:latin typeface="Calibri"/>
              </a:rPr>
              <a:t>▸  </a:t>
            </a:r>
            <a:r>
              <a:rPr sz="1150" b="0">
                <a:solidFill>
                  <a:srgbClr val="374151"/>
                </a:solidFill>
                <a:latin typeface="Calibri"/>
              </a:rPr>
              <a:t>Index FAISS + modèle d'embeddings chargés une seule fois au démarrage (lifespan).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03720" y="1874519"/>
            <a:ext cx="4800600" cy="233172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03720" y="1874519"/>
            <a:ext cx="91440" cy="2331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78040" y="2011680"/>
            <a:ext cx="4343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F2F52"/>
                </a:solidFill>
                <a:latin typeface="Calibri"/>
              </a:rPr>
              <a:t>Gestion des erreurs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78040" y="2542032"/>
            <a:ext cx="658368" cy="310896"/>
          </a:xfrm>
          <a:prstGeom prst="roundRect">
            <a:avLst/>
          </a:prstGeom>
          <a:solidFill>
            <a:srgbClr val="0F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78040" y="2542032"/>
            <a:ext cx="65836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422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79" y="2542032"/>
            <a:ext cx="35204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F2937"/>
                </a:solidFill>
                <a:latin typeface="Calibri"/>
              </a:rPr>
              <a:t>question vide / champ manquant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178040" y="2953512"/>
            <a:ext cx="658368" cy="310896"/>
          </a:xfrm>
          <a:prstGeom prst="roundRect">
            <a:avLst/>
          </a:prstGeom>
          <a:solidFill>
            <a:srgbClr val="0F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78040" y="2953512"/>
            <a:ext cx="65836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503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5279" y="2953512"/>
            <a:ext cx="35204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F2937"/>
                </a:solidFill>
                <a:latin typeface="Calibri"/>
              </a:rPr>
              <a:t>index absent (assistant non chargé)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178040" y="3364992"/>
            <a:ext cx="658368" cy="310896"/>
          </a:xfrm>
          <a:prstGeom prst="roundRect">
            <a:avLst/>
          </a:prstGeom>
          <a:solidFill>
            <a:srgbClr val="0F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78040" y="3364992"/>
            <a:ext cx="65836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401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55279" y="3364992"/>
            <a:ext cx="35204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F2937"/>
                </a:solidFill>
                <a:latin typeface="Calibri"/>
              </a:rPr>
              <a:t>jeton /rebuild invalide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178040" y="3776472"/>
            <a:ext cx="658368" cy="310896"/>
          </a:xfrm>
          <a:prstGeom prst="roundRect">
            <a:avLst/>
          </a:prstGeom>
          <a:solidFill>
            <a:srgbClr val="0F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78040" y="3776472"/>
            <a:ext cx="65836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500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55279" y="3776472"/>
            <a:ext cx="35204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F2937"/>
                </a:solidFill>
                <a:latin typeface="Calibri"/>
              </a:rPr>
              <a:t>erreur interne — détail jamais exposé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903720" y="4389120"/>
            <a:ext cx="4800600" cy="178308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903720" y="4389120"/>
            <a:ext cx="91440" cy="17830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78040" y="4526280"/>
            <a:ext cx="4343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F2F52"/>
                </a:solidFill>
                <a:latin typeface="Calibri"/>
              </a:rPr>
              <a:t>Qualité &amp; robustesse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78040" y="4983480"/>
            <a:ext cx="42976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150" b="1">
                <a:solidFill>
                  <a:srgbClr val="F59E0B"/>
                </a:solidFill>
                <a:latin typeface="Calibri"/>
              </a:rPr>
              <a:t>▸  </a:t>
            </a:r>
            <a:r>
              <a:rPr sz="1150" b="0">
                <a:solidFill>
                  <a:srgbClr val="1F2937"/>
                </a:solidFill>
                <a:latin typeface="Calibri"/>
              </a:rPr>
              <a:t>81 tests automatisés (unitaires + API).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150" b="1">
                <a:solidFill>
                  <a:srgbClr val="F59E0B"/>
                </a:solidFill>
                <a:latin typeface="Calibri"/>
              </a:rPr>
              <a:t>▸  </a:t>
            </a:r>
            <a:r>
              <a:rPr sz="1150" b="0">
                <a:solidFill>
                  <a:srgbClr val="1F2937"/>
                </a:solidFill>
                <a:latin typeface="Calibri"/>
              </a:rPr>
              <a:t>CI GitHub Actions : lint + tests à chaque push.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150" b="1">
                <a:solidFill>
                  <a:srgbClr val="F59E0B"/>
                </a:solidFill>
                <a:latin typeface="Calibri"/>
              </a:rPr>
              <a:t>▸  </a:t>
            </a:r>
            <a:r>
              <a:rPr sz="1150" b="0">
                <a:solidFill>
                  <a:srgbClr val="1F2937"/>
                </a:solidFill>
                <a:latin typeface="Calibri"/>
              </a:rPr>
              <a:t>Jeton /rebuild comparé en temps constant.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6556248"/>
            <a:ext cx="9601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Projet 7 — Assistant RAG d'événements culturels  •  Lamine CAMARA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064240" y="6556248"/>
            <a:ext cx="914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59E0B"/>
                </a:solidFill>
                <a:latin typeface="Calibri"/>
              </a:rPr>
              <a:t>09  •  DÉMO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0F2F52"/>
                </a:solidFill>
                <a:latin typeface="Calibri"/>
              </a:rPr>
              <a:t>Démonstration live de l'API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097280" cy="365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65960"/>
            <a:ext cx="1088136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700" b="1">
                <a:solidFill>
                  <a:srgbClr val="F59E0B"/>
                </a:solidFill>
                <a:latin typeface="Calibri"/>
              </a:rPr>
              <a:t>▸  </a:t>
            </a:r>
            <a:r>
              <a:rPr sz="1700" b="0">
                <a:solidFill>
                  <a:srgbClr val="374151"/>
                </a:solidFill>
                <a:latin typeface="Calibri"/>
              </a:rPr>
              <a:t>Scénario 1 : « Quels concerts de jazz à Paris ? » → Jazzycolors, Café Maa…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700" b="1">
                <a:solidFill>
                  <a:srgbClr val="F59E0B"/>
                </a:solidFill>
                <a:latin typeface="Calibri"/>
              </a:rPr>
              <a:t>▸  </a:t>
            </a:r>
            <a:r>
              <a:rPr sz="1700" b="0">
                <a:solidFill>
                  <a:srgbClr val="374151"/>
                </a:solidFill>
                <a:latin typeface="Calibri"/>
              </a:rPr>
              <a:t>Scénario 2 : « Une expo de peinture à voir à Paris ? » → Mai-Thu Perret…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700" b="1">
                <a:solidFill>
                  <a:srgbClr val="F59E0B"/>
                </a:solidFill>
                <a:latin typeface="Calibri"/>
              </a:rPr>
              <a:t>▸  </a:t>
            </a:r>
            <a:r>
              <a:rPr sz="1700" b="0">
                <a:solidFill>
                  <a:srgbClr val="374151"/>
                </a:solidFill>
                <a:latin typeface="Calibri"/>
              </a:rPr>
              <a:t>Scénario 3 : question hors-périmètre → refus honnête (pas d'invention).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700" b="1">
                <a:solidFill>
                  <a:srgbClr val="F59E0B"/>
                </a:solidFill>
                <a:latin typeface="Calibri"/>
              </a:rPr>
              <a:t>▸  </a:t>
            </a:r>
            <a:r>
              <a:rPr sz="1700" b="0">
                <a:solidFill>
                  <a:srgbClr val="374151"/>
                </a:solidFill>
                <a:latin typeface="Calibri"/>
              </a:rPr>
              <a:t>Le tout servi par le conteneur Docker, en local (Swagger /docs).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56248"/>
            <a:ext cx="9601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Projet 7 — Assistant RAG d'événements culturels  •  Lamine CAMARA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556248"/>
            <a:ext cx="914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59E0B"/>
                </a:solidFill>
                <a:latin typeface="Calibri"/>
              </a:rPr>
              <a:t>10  •  RÉSULTATS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0F2F52"/>
                </a:solidFill>
                <a:latin typeface="Calibri"/>
              </a:rPr>
              <a:t>Rapport technique &amp; évaluation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097280" cy="365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874519"/>
            <a:ext cx="2514600" cy="1481328"/>
          </a:xfrm>
          <a:prstGeom prst="roundRect">
            <a:avLst/>
          </a:prstGeom>
          <a:solidFill>
            <a:srgbClr val="0F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74519"/>
            <a:ext cx="2514600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075688"/>
            <a:ext cx="25146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3400" b="1">
                <a:solidFill>
                  <a:srgbClr val="F59E0B"/>
                </a:solidFill>
                <a:latin typeface="Calibri"/>
              </a:rPr>
              <a:t>0.77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788920"/>
            <a:ext cx="2331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Similarité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sémantique moy.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93592" y="1874519"/>
            <a:ext cx="2514600" cy="1481328"/>
          </a:xfrm>
          <a:prstGeom prst="roundRect">
            <a:avLst/>
          </a:prstGeom>
          <a:solidFill>
            <a:srgbClr val="0F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93592" y="1874519"/>
            <a:ext cx="2514600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93592" y="2075688"/>
            <a:ext cx="25146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3400" b="1">
                <a:solidFill>
                  <a:srgbClr val="F59E0B"/>
                </a:solidFill>
                <a:latin typeface="Calibri"/>
              </a:rPr>
              <a:t>0.71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85032" y="2788920"/>
            <a:ext cx="2331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Couverture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des infos clés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9944" y="1874519"/>
            <a:ext cx="2514600" cy="1481328"/>
          </a:xfrm>
          <a:prstGeom prst="roundRect">
            <a:avLst/>
          </a:prstGeom>
          <a:solidFill>
            <a:srgbClr val="0F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9944" y="1874519"/>
            <a:ext cx="2514600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9944" y="2075688"/>
            <a:ext cx="25146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3400" b="1">
                <a:solidFill>
                  <a:srgbClr val="F59E0B"/>
                </a:solidFill>
                <a:latin typeface="Calibri"/>
              </a:rPr>
              <a:t>14/20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1383" y="2788920"/>
            <a:ext cx="2331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Réponses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correctes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26296" y="1874519"/>
            <a:ext cx="2514600" cy="1481328"/>
          </a:xfrm>
          <a:prstGeom prst="roundRect">
            <a:avLst/>
          </a:prstGeom>
          <a:solidFill>
            <a:srgbClr val="0F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226296" y="1874519"/>
            <a:ext cx="2514600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26296" y="2075688"/>
            <a:ext cx="25146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3400" b="1">
                <a:solidFill>
                  <a:srgbClr val="F59E0B"/>
                </a:solidFill>
                <a:latin typeface="Calibri"/>
              </a:rPr>
              <a:t>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17736" y="2788920"/>
            <a:ext cx="2331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Questions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annotées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611880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F2F52"/>
                </a:solidFill>
                <a:latin typeface="Calibri"/>
              </a:rPr>
              <a:t>Réussite par catégorie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169663"/>
            <a:ext cx="22402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374151"/>
                </a:solidFill>
                <a:latin typeface="Calibri"/>
              </a:rPr>
              <a:t>Lieu (n=5)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154680" y="4206240"/>
            <a:ext cx="2651760" cy="237744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154680" y="4206240"/>
            <a:ext cx="2121408" cy="237744"/>
          </a:xfrm>
          <a:prstGeom prst="rect">
            <a:avLst/>
          </a:prstGeom>
          <a:solidFill>
            <a:srgbClr val="0F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0" y="4169663"/>
            <a:ext cx="8686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0F2F52"/>
                </a:solidFill>
                <a:latin typeface="Calibri"/>
              </a:rPr>
              <a:t>80 %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645151"/>
            <a:ext cx="22402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374151"/>
                </a:solidFill>
                <a:latin typeface="Calibri"/>
              </a:rPr>
              <a:t>Période (n=2)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154680" y="4681727"/>
            <a:ext cx="2651760" cy="237744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154680" y="4681727"/>
            <a:ext cx="1325880" cy="237744"/>
          </a:xfrm>
          <a:prstGeom prst="rect">
            <a:avLst/>
          </a:prstGeom>
          <a:solidFill>
            <a:srgbClr val="0F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0" y="4645151"/>
            <a:ext cx="8686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0F2F52"/>
                </a:solidFill>
                <a:latin typeface="Calibri"/>
              </a:rPr>
              <a:t>50 %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5120639"/>
            <a:ext cx="22402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374151"/>
                </a:solidFill>
                <a:latin typeface="Calibri"/>
              </a:rPr>
              <a:t>Type d'événement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54680" y="5157215"/>
            <a:ext cx="2651760" cy="237744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154680" y="5157215"/>
            <a:ext cx="2121408" cy="237744"/>
          </a:xfrm>
          <a:prstGeom prst="rect">
            <a:avLst/>
          </a:prstGeom>
          <a:solidFill>
            <a:srgbClr val="0F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600" y="5120639"/>
            <a:ext cx="8686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0F2F52"/>
                </a:solidFill>
                <a:latin typeface="Calibri"/>
              </a:rPr>
              <a:t>80 %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596127"/>
            <a:ext cx="22402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374151"/>
                </a:solidFill>
                <a:latin typeface="Calibri"/>
              </a:rPr>
              <a:t>Hors-périmètre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54680" y="5632703"/>
            <a:ext cx="2651760" cy="237744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154680" y="5632703"/>
            <a:ext cx="875080" cy="2377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43600" y="5596127"/>
            <a:ext cx="8686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F59E0B"/>
                </a:solidFill>
                <a:latin typeface="Calibri"/>
              </a:rPr>
              <a:t>33 %*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52360" y="3611880"/>
            <a:ext cx="4114800" cy="2542032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452360" y="3611880"/>
            <a:ext cx="91440" cy="25420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26680" y="379476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2F52"/>
                </a:solidFill>
                <a:latin typeface="Calibri"/>
              </a:rPr>
              <a:t>Recul critique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26680" y="4297680"/>
            <a:ext cx="3611880" cy="1719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250" b="0">
                <a:solidFill>
                  <a:srgbClr val="1F2937"/>
                </a:solidFill>
                <a:latin typeface="Calibri"/>
              </a:rPr>
              <a:t>* Un refus hors-périmètre — pourtant le bon comportement — est compté « incorrect » par la métrique.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250" b="0">
                <a:solidFill>
                  <a:srgbClr val="1F2937"/>
                </a:solidFill>
                <a:latin typeface="Calibri"/>
              </a:rPr>
              <a:t>Les 14/20 sont donc un plancher pessimiste ; détail complet dans le rapport technique.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6556248"/>
            <a:ext cx="9601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Projet 7 — Assistant RAG d'événements culturels  •  Lamine CAMARA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064240" y="6556248"/>
            <a:ext cx="914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59E0B"/>
                </a:solidFill>
                <a:latin typeface="Calibri"/>
              </a:rPr>
              <a:t>11  •  DÉPÔT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0F2F52"/>
                </a:solidFill>
                <a:latin typeface="Calibri"/>
              </a:rPr>
              <a:t>Structure du dépôt &amp; principaux scripts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097280" cy="365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874519"/>
            <a:ext cx="5806440" cy="429768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74519"/>
            <a:ext cx="91440" cy="42976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011680"/>
            <a:ext cx="548640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onsolas"/>
              </a:rPr>
              <a:t>projet7/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onsolas"/>
              </a:rPr>
              <a:t>├── rag/         cœur métier RAG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onsolas"/>
              </a:rPr>
              <a:t>│      data_loader · preprocessing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onsolas"/>
              </a:rPr>
              <a:t>│      chunking · embeddings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onsolas"/>
              </a:rPr>
              <a:t>│      vectorstore · chain · config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onsolas"/>
              </a:rPr>
              <a:t>├── api/         FastAPI (main, schemas)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onsolas"/>
              </a:rPr>
              <a:t>├── scripts/     pipeline &amp; outils CLI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onsolas"/>
              </a:rPr>
              <a:t>├── tests/       81 tests (10 fichiers)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onsolas"/>
              </a:rPr>
              <a:t>├── eval/        jeu annoté + rapports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onsolas"/>
              </a:rPr>
              <a:t>├── docs/        fiches + rapport tech.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onsolas"/>
              </a:rPr>
              <a:t>├── Dockerfile · docker-compose.yml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onsolas"/>
              </a:rPr>
              <a:t>└── pyproject.toml · uv.lock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1874519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2F52"/>
                </a:solidFill>
                <a:latin typeface="Calibri"/>
              </a:rPr>
              <a:t>Pipeline d'indexation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0" y="2377440"/>
            <a:ext cx="4754880" cy="502920"/>
          </a:xfrm>
          <a:prstGeom prst="roundRect">
            <a:avLst/>
          </a:prstGeom>
          <a:solidFill>
            <a:srgbClr val="0F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78040" y="2377440"/>
            <a:ext cx="4389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F59E0B"/>
                </a:solidFill>
                <a:latin typeface="Consolas"/>
              </a:rPr>
              <a:t>1 · </a:t>
            </a:r>
            <a:r>
              <a:rPr sz="1250" b="0">
                <a:solidFill>
                  <a:srgbClr val="FFFFFF"/>
                </a:solidFill>
                <a:latin typeface="Consolas"/>
              </a:rPr>
              <a:t>fetch_events.py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9226296" y="2898648"/>
            <a:ext cx="201168" cy="146304"/>
          </a:xfrm>
          <a:prstGeom prst="downArrow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949440" y="3044952"/>
            <a:ext cx="4754880" cy="502920"/>
          </a:xfrm>
          <a:prstGeom prst="roundRect">
            <a:avLst/>
          </a:prstGeom>
          <a:solidFill>
            <a:srgbClr val="0F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78040" y="3044952"/>
            <a:ext cx="4389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F59E0B"/>
                </a:solidFill>
                <a:latin typeface="Consolas"/>
              </a:rPr>
              <a:t>2 · </a:t>
            </a:r>
            <a:r>
              <a:rPr sz="1250" b="0">
                <a:solidFill>
                  <a:srgbClr val="FFFFFF"/>
                </a:solidFill>
                <a:latin typeface="Consolas"/>
              </a:rPr>
              <a:t>preprocess_events.py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9226296" y="3566160"/>
            <a:ext cx="201168" cy="146304"/>
          </a:xfrm>
          <a:prstGeom prst="downArrow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949440" y="3712464"/>
            <a:ext cx="4754880" cy="502920"/>
          </a:xfrm>
          <a:prstGeom prst="roundRect">
            <a:avLst/>
          </a:prstGeom>
          <a:solidFill>
            <a:srgbClr val="0F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78040" y="3712464"/>
            <a:ext cx="4389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F59E0B"/>
                </a:solidFill>
                <a:latin typeface="Consolas"/>
              </a:rPr>
              <a:t>3 · </a:t>
            </a:r>
            <a:r>
              <a:rPr sz="1250" b="0">
                <a:solidFill>
                  <a:srgbClr val="FFFFFF"/>
                </a:solidFill>
                <a:latin typeface="Consolas"/>
              </a:rPr>
              <a:t>build_index.py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4425696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2F52"/>
                </a:solidFill>
                <a:latin typeface="Calibri"/>
              </a:rPr>
              <a:t>Autres scripts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4837176"/>
            <a:ext cx="47548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00" b="1">
                <a:solidFill>
                  <a:srgbClr val="F59E0B"/>
                </a:solidFill>
                <a:latin typeface="Calibri"/>
              </a:rPr>
              <a:t>▸  </a:t>
            </a:r>
            <a:r>
              <a:rPr sz="1200" b="0">
                <a:solidFill>
                  <a:srgbClr val="374151"/>
                </a:solidFill>
                <a:latin typeface="Calibri"/>
              </a:rPr>
              <a:t>search.py — recherche sémantique en CLI.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00" b="1">
                <a:solidFill>
                  <a:srgbClr val="F59E0B"/>
                </a:solidFill>
                <a:latin typeface="Calibri"/>
              </a:rPr>
              <a:t>▸  </a:t>
            </a:r>
            <a:r>
              <a:rPr sz="1200" b="0">
                <a:solidFill>
                  <a:srgbClr val="374151"/>
                </a:solidFill>
                <a:latin typeface="Calibri"/>
              </a:rPr>
              <a:t>evaluate_rag.py — évaluation de la qualité.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00" b="1">
                <a:solidFill>
                  <a:srgbClr val="F59E0B"/>
                </a:solidFill>
                <a:latin typeface="Calibri"/>
              </a:rPr>
              <a:t>▸  </a:t>
            </a:r>
            <a:r>
              <a:rPr sz="1200" b="0">
                <a:solidFill>
                  <a:srgbClr val="374151"/>
                </a:solidFill>
                <a:latin typeface="Calibri"/>
              </a:rPr>
              <a:t>check_imports.py — vérification des dépendances.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00" b="1">
                <a:solidFill>
                  <a:srgbClr val="F59E0B"/>
                </a:solidFill>
                <a:latin typeface="Calibri"/>
              </a:rPr>
              <a:t>▸  </a:t>
            </a:r>
            <a:r>
              <a:rPr sz="1200" b="0">
                <a:solidFill>
                  <a:srgbClr val="374151"/>
                </a:solidFill>
                <a:latin typeface="Calibri"/>
              </a:rPr>
              <a:t>build_presentation.py — ce support.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6556248"/>
            <a:ext cx="9601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Projet 7 — Assistant RAG d'événements culturels  •  Lamine CAMARA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556248"/>
            <a:ext cx="914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59E0B"/>
                </a:solidFill>
                <a:latin typeface="Calibri"/>
              </a:rPr>
              <a:t>12  •  DÉPLOIEMENT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0F2F52"/>
                </a:solidFill>
                <a:latin typeface="Calibri"/>
              </a:rPr>
              <a:t>Conteneurisation &amp; reproductibilité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097280" cy="365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65960"/>
            <a:ext cx="1088136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700" b="1">
                <a:solidFill>
                  <a:srgbClr val="F59E0B"/>
                </a:solidFill>
                <a:latin typeface="Calibri"/>
              </a:rPr>
              <a:t>▸  </a:t>
            </a:r>
            <a:r>
              <a:rPr sz="1700" b="0">
                <a:solidFill>
                  <a:srgbClr val="374151"/>
                </a:solidFill>
                <a:latin typeface="Calibri"/>
              </a:rPr>
              <a:t>Image Docker : API + index FAISS + modèle d'embeddings EMBARQUÉS → démarrage hors-ligne.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700" b="1">
                <a:solidFill>
                  <a:srgbClr val="F59E0B"/>
                </a:solidFill>
                <a:latin typeface="Calibri"/>
              </a:rPr>
              <a:t>▸  </a:t>
            </a:r>
            <a:r>
              <a:rPr sz="1700" b="0">
                <a:solidFill>
                  <a:srgbClr val="374151"/>
                </a:solidFill>
                <a:latin typeface="Calibri"/>
              </a:rPr>
              <a:t>Seule la génération Mistral appelle le réseau, au moment de la requête.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700" b="1">
                <a:solidFill>
                  <a:srgbClr val="F59E0B"/>
                </a:solidFill>
                <a:latin typeface="Calibri"/>
              </a:rPr>
              <a:t>▸  </a:t>
            </a:r>
            <a:r>
              <a:rPr sz="1700" b="0">
                <a:solidFill>
                  <a:srgbClr val="374151"/>
                </a:solidFill>
                <a:latin typeface="Calibri"/>
              </a:rPr>
              <a:t>PyTorch CPU épinglé (projet 100 % CPU) → image ~3,8 Go au lieu de ~11,6 Go.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700" b="1">
                <a:solidFill>
                  <a:srgbClr val="F59E0B"/>
                </a:solidFill>
                <a:latin typeface="Calibri"/>
              </a:rPr>
              <a:t>▸  </a:t>
            </a:r>
            <a:r>
              <a:rPr sz="1700" b="0">
                <a:solidFill>
                  <a:srgbClr val="374151"/>
                </a:solidFill>
                <a:latin typeface="Calibri"/>
              </a:rPr>
              <a:t>Environnement figé avec uv (pyproject + uv.lock) → installs déterministes.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700" b="1">
                <a:solidFill>
                  <a:srgbClr val="F59E0B"/>
                </a:solidFill>
                <a:latin typeface="Calibri"/>
              </a:rPr>
              <a:t>▸  </a:t>
            </a:r>
            <a:r>
              <a:rPr sz="1700" b="0">
                <a:solidFill>
                  <a:srgbClr val="374151"/>
                </a:solidFill>
                <a:latin typeface="Calibri"/>
              </a:rPr>
              <a:t>Secrets jamais versionnés ni copiés dans l'image : injectés au run via --env-file.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56248"/>
            <a:ext cx="9601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Projet 7 — Assistant RAG d'événements culturels  •  Lamine CAMARA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556248"/>
            <a:ext cx="914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59E0B"/>
                </a:solidFill>
                <a:latin typeface="Calibri"/>
              </a:rPr>
              <a:t>13  •  PERSPECTIVES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0F2F52"/>
                </a:solidFill>
                <a:latin typeface="Calibri"/>
              </a:rPr>
              <a:t>Limites &amp; pistes d'industrialisation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097280" cy="365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4617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2937"/>
                </a:solidFill>
                <a:latin typeface="Calibri"/>
              </a:rPr>
              <a:t>LIMITE ACTUELLE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0" y="1874519"/>
            <a:ext cx="5532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59E0B"/>
                </a:solidFill>
                <a:latin typeface="Calibri"/>
              </a:rPr>
              <a:t>PISTE D'INDUSTRIALISATION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86000"/>
            <a:ext cx="4617720" cy="841248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286000"/>
            <a:ext cx="416052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0">
                <a:solidFill>
                  <a:srgbClr val="0F2F52"/>
                </a:solidFill>
                <a:latin typeface="Calibri"/>
              </a:rPr>
              <a:t>Couverture : 1 ville, instantané figé des données.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2286000"/>
            <a:ext cx="5532120" cy="841248"/>
          </a:xfrm>
          <a:prstGeom prst="roundRect">
            <a:avLst/>
          </a:prstGeom>
          <a:solidFill>
            <a:srgbClr val="0F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2286000"/>
            <a:ext cx="507492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Fraîcheur : ingestion planifiée + /rebuild automatisé.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468112" y="2587752"/>
            <a:ext cx="585216" cy="237744"/>
          </a:xfrm>
          <a:prstGeom prst="rightArrow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77240" y="3246120"/>
            <a:ext cx="4617720" cy="841248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246120"/>
            <a:ext cx="416052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0">
                <a:solidFill>
                  <a:srgbClr val="0F2F52"/>
                </a:solidFill>
                <a:latin typeface="Calibri"/>
              </a:rPr>
              <a:t>Rappel : requêtes par type d'événement parfois incomplètes.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3246120"/>
            <a:ext cx="5532120" cy="841248"/>
          </a:xfrm>
          <a:prstGeom prst="roundRect">
            <a:avLst/>
          </a:prstGeom>
          <a:solidFill>
            <a:srgbClr val="0F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3246120"/>
            <a:ext cx="507492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Recherche hybride (lexicale + vectorielle) + reranking.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468112" y="3547872"/>
            <a:ext cx="585216" cy="237744"/>
          </a:xfrm>
          <a:prstGeom prst="rightArrow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77240" y="4206240"/>
            <a:ext cx="4617720" cy="841248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206240"/>
            <a:ext cx="416052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0">
                <a:solidFill>
                  <a:srgbClr val="0F2F52"/>
                </a:solidFill>
                <a:latin typeface="Calibri"/>
              </a:rPr>
              <a:t>Coût &amp; latence de l'appel au LLM externe (Mistral).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4206240"/>
            <a:ext cx="5532120" cy="841248"/>
          </a:xfrm>
          <a:prstGeom prst="roundRect">
            <a:avLst/>
          </a:prstGeom>
          <a:solidFill>
            <a:srgbClr val="0F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4206240"/>
            <a:ext cx="507492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Cache de réponses, quotas, observabilité des coûts LLM.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5468112" y="4507992"/>
            <a:ext cx="585216" cy="237744"/>
          </a:xfrm>
          <a:prstGeom prst="rightArrow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77240" y="5166359"/>
            <a:ext cx="4617720" cy="841248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5166359"/>
            <a:ext cx="416052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0">
                <a:solidFill>
                  <a:srgbClr val="0F2F52"/>
                </a:solidFill>
                <a:latin typeface="Calibri"/>
              </a:rPr>
              <a:t>Recherche exacte FAISS dimensionnée pour le POC (~4K vecteurs).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80" y="5166359"/>
            <a:ext cx="5532120" cy="841248"/>
          </a:xfrm>
          <a:prstGeom prst="roundRect">
            <a:avLst/>
          </a:prstGeom>
          <a:solidFill>
            <a:srgbClr val="0F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5166359"/>
            <a:ext cx="507492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Index IVF/HNSW, base vectorielle managée, auth &amp; rate-limiting.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5468112" y="5468112"/>
            <a:ext cx="585216" cy="237744"/>
          </a:xfrm>
          <a:prstGeom prst="rightArrow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6556248"/>
            <a:ext cx="9601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Projet 7 — Assistant RAG d'événements culturels  •  Lamine CAMARA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64240" y="6556248"/>
            <a:ext cx="914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26480"/>
            <a:ext cx="12191695" cy="1371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59E0B"/>
                </a:solidFill>
                <a:latin typeface="Calibri"/>
              </a:rPr>
              <a:t>DISCUSSION  •  MERCI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69848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5000" b="1">
                <a:solidFill>
                  <a:srgbClr val="FFFFFF"/>
                </a:solidFill>
                <a:latin typeface="Calibri"/>
              </a:rPr>
              <a:t>Questions 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0233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Choix · données &amp; embeddings · évaluation · limites · industrialisation.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6177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59E0B"/>
                </a:solidFill>
                <a:latin typeface="Calibri"/>
              </a:rPr>
              <a:t>Code · rapport technique · fiches d'étape disponibles dans le dépôt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39496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Lamine CAMARA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Assistant RAG — Puls-Events (POC)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